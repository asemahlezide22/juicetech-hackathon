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Forecast rentals</c:v>
                </c:pt>
              </c:strCache>
            </c:strRef>
          </c:tx>
          <c:spPr>
            <a:solidFill>
              <a:srgbClr val="FFD4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Sheet1!$A$2:$A$25</c:f>
              <c:multiLvlStrCache>
                <c:ptCount val="24"/>
                <c:lvl>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lvl>
              </c:multiLvlStrCache>
            </c:multiLvlStrRef>
          </c:cat>
          <c:val>
            <c:numRef>
              <c:f>Sheet1!$B$2:$B$25</c:f>
              <c:numCache>
                <c:formatCode>General</c:formatCode>
                <c:ptCount val="24"/>
                <c:pt idx="0">
                  <c:v>0</c:v>
                </c:pt>
                <c:pt idx="1">
                  <c:v>0</c:v>
                </c:pt>
                <c:pt idx="2">
                  <c:v>0</c:v>
                </c:pt>
                <c:pt idx="3">
                  <c:v>0</c:v>
                </c:pt>
                <c:pt idx="4">
                  <c:v>1</c:v>
                </c:pt>
                <c:pt idx="5">
                  <c:v>13.9</c:v>
                </c:pt>
                <c:pt idx="6">
                  <c:v>33.3</c:v>
                </c:pt>
                <c:pt idx="7">
                  <c:v>37.4</c:v>
                </c:pt>
                <c:pt idx="8">
                  <c:v>30.5</c:v>
                </c:pt>
                <c:pt idx="9">
                  <c:v>55</c:v>
                </c:pt>
                <c:pt idx="10">
                  <c:v>46.9</c:v>
                </c:pt>
                <c:pt idx="11">
                  <c:v>47.1</c:v>
                </c:pt>
                <c:pt idx="12">
                  <c:v>51.2</c:v>
                </c:pt>
                <c:pt idx="13">
                  <c:v>55</c:v>
                </c:pt>
                <c:pt idx="14">
                  <c:v>54.1</c:v>
                </c:pt>
                <c:pt idx="15">
                  <c:v>66.2</c:v>
                </c:pt>
                <c:pt idx="16">
                  <c:v>80.3</c:v>
                </c:pt>
                <c:pt idx="17">
                  <c:v>82.7</c:v>
                </c:pt>
                <c:pt idx="18">
                  <c:v>61.4</c:v>
                </c:pt>
                <c:pt idx="19">
                  <c:v>44</c:v>
                </c:pt>
                <c:pt idx="20">
                  <c:v>23.9</c:v>
                </c:pt>
                <c:pt idx="21">
                  <c:v>13</c:v>
                </c:pt>
                <c:pt idx="22">
                  <c:v>4.2</c:v>
                </c:pt>
                <c:pt idx="23">
                  <c:v>2.4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A6A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4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A6A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 sentence and nothing before it:
"Juice Tech is a shared power bank network for South Africa, where the AI decides which cabinets to fill before they run dry — and which batteries to pull before they catch fire."
Then: it is August, this is GirlCode, and the problem we picked is one we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do not read it. Pause after the line.
She cannot call her sister to say which taxi she is on. Cannot share her location. Cannot check if the last one has gone. It is a forty minute trip and nobody knows she is making it.
Say 'picture this' — it is a scenario, not a testimonial.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 the story becomes the technology. Land the bold line and stop for a beat.
An empty cabinet at Langa at five o'clock is not a stock problem. It is a safety problem.
Then say the limit out loud: 'None of this solves gender based violence, and we are not going to stand here and say it does.' Naming it yourself is what separates this from stapling a cause onto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17:00 bar. Say: this is real output, not a mock.
Sites: Langa, Mitchells Plain, Bellville, CT Station Taxi Deck, UCT, CPUT, Stellenbosch. Peak 82.7 rentals.
Eskom publishes the loadshedding schedule, so stage is an input to the model, not something it has to guess.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not an LLM for forecasting: it is the wrong tool. Gradient boosting on tabular telemetry trains in seconds, runs offline, and tells you which feature drove the call. The language model has one job — talking to humans.
At stage 4 the van can only move 8 banks because nothing has surplus. 171 stay short. That is the model saying: you need another cabinet, not another van trip.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ID one out loud and explain the cost: no ID means renting leaves nothing behind that could be used to find you. It hurts our conversion and our fraud position. We did it anyway.
Anyone can claim to care about safety. Removing a field is a decision with a price.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path only, about 2 minutes:
1. /kiosk — 11 banks, live
2. Two hours, R550 shown before committing
3. Use demo details — no ID asked for
4. Card — nowhere to type one, we only display the test number
5. Simulate payment, let the dispensing animation play
6. Receipt
7. /ai — move Eskom stage 0 to 4, forecast moves
8. Van route and what it cannot fix
9. Battery flagged to pull
10. Ask Juice: type an ID and card number, show what leaves the machine
If anything breaks: do not debug. Switch to the recording and keep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per rule 12: the AI models and the policy engine predate this weekend. Built during the hackathon — the whole Python site and API, the kiosk rental journey, the nearest-station finder, the safety page and 208 automated checks.
fleet.telemetry() is the single swap point for real data. Nothing downstream changes.
Then the ask: what you would do with the prize. About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808"/>
        </a:solidFill>
      </p:bgPr>
    </p:bg>
    <p:spTree>
      <p:nvGrpSpPr>
        <p:cNvPr id="1" name=""/>
        <p:cNvGrpSpPr/>
        <p:nvPr/>
      </p:nvGrpSpPr>
      <p:grpSpPr>
        <a:xfrm>
          <a:off x="0" y="0"/>
          <a:ext cx="0" cy="0"/>
          <a:chOff x="0" y="0"/>
          <a:chExt cx="0" cy="0"/>
        </a:xfrm>
      </p:grpSpPr>
      <p:sp>
        <p:nvSpPr>
          <p:cNvPr id="2" name="Shape 0"/>
          <p:cNvSpPr/>
          <p:nvPr/>
        </p:nvSpPr>
        <p:spPr>
          <a:xfrm>
            <a:off x="8412480" y="-1645920"/>
            <a:ext cx="6035040" cy="6035040"/>
          </a:xfrm>
          <a:prstGeom prst="ellipse">
            <a:avLst/>
          </a:prstGeom>
          <a:solidFill>
            <a:srgbClr val="1A1705"/>
          </a:solidFill>
          <a:ln/>
        </p:spPr>
      </p:sp>
      <p:sp>
        <p:nvSpPr>
          <p:cNvPr id="3" name="Text 1"/>
          <p:cNvSpPr/>
          <p:nvPr/>
        </p:nvSpPr>
        <p:spPr>
          <a:xfrm>
            <a:off x="822960" y="2194560"/>
            <a:ext cx="9144000" cy="1005840"/>
          </a:xfrm>
          <a:prstGeom prst="rect">
            <a:avLst/>
          </a:prstGeom>
          <a:noFill/>
          <a:ln/>
        </p:spPr>
        <p:txBody>
          <a:bodyPr wrap="square" lIns="0" tIns="0" rIns="0" bIns="0" rtlCol="0" anchor="ctr"/>
          <a:lstStyle/>
          <a:p>
            <a:pPr indent="0" marL="0">
              <a:buNone/>
            </a:pPr>
            <a:r>
              <a:rPr lang="en-US" sz="6000" b="1" spc="200" kern="0" dirty="0">
                <a:solidFill>
                  <a:srgbClr val="FFD400"/>
                </a:solidFill>
                <a:latin typeface="Arial" pitchFamily="34" charset="0"/>
                <a:ea typeface="Arial" pitchFamily="34" charset="-122"/>
                <a:cs typeface="Arial" pitchFamily="34" charset="-120"/>
              </a:rPr>
              <a:t>JUICE TECH</a:t>
            </a:r>
            <a:endParaRPr lang="en-US" sz="6000" dirty="0"/>
          </a:p>
        </p:txBody>
      </p:sp>
      <p:sp>
        <p:nvSpPr>
          <p:cNvPr id="4" name="Text 2"/>
          <p:cNvSpPr/>
          <p:nvPr/>
        </p:nvSpPr>
        <p:spPr>
          <a:xfrm>
            <a:off x="868680" y="3200400"/>
            <a:ext cx="9144000" cy="548640"/>
          </a:xfrm>
          <a:prstGeom prst="rect">
            <a:avLst/>
          </a:prstGeom>
          <a:noFill/>
          <a:ln/>
        </p:spPr>
        <p:txBody>
          <a:bodyPr wrap="square" lIns="0" tIns="0" rIns="0" bIns="0" rtlCol="0" anchor="ctr"/>
          <a:lstStyle/>
          <a:p>
            <a:pPr indent="0" marL="0">
              <a:buNone/>
            </a:pPr>
            <a:r>
              <a:rPr lang="en-US" sz="2400" dirty="0">
                <a:solidFill>
                  <a:srgbClr val="B6B6C2"/>
                </a:solidFill>
                <a:latin typeface="Calibri" pitchFamily="34" charset="0"/>
                <a:ea typeface="Calibri" pitchFamily="34" charset="-122"/>
                <a:cs typeface="Calibri" pitchFamily="34" charset="-120"/>
              </a:rPr>
              <a:t>Pay for the time, share the time.</a:t>
            </a:r>
            <a:endParaRPr lang="en-US" sz="2400" dirty="0"/>
          </a:p>
        </p:txBody>
      </p:sp>
      <p:sp>
        <p:nvSpPr>
          <p:cNvPr id="5" name="Text 3"/>
          <p:cNvSpPr/>
          <p:nvPr/>
        </p:nvSpPr>
        <p:spPr>
          <a:xfrm>
            <a:off x="868680" y="5852160"/>
            <a:ext cx="9144000" cy="365760"/>
          </a:xfrm>
          <a:prstGeom prst="rect">
            <a:avLst/>
          </a:prstGeom>
          <a:noFill/>
          <a:ln/>
        </p:spPr>
        <p:txBody>
          <a:bodyPr wrap="square" lIns="0" tIns="0" rIns="0" bIns="0" rtlCol="0" anchor="ctr"/>
          <a:lstStyle/>
          <a:p>
            <a:pPr indent="0" marL="0">
              <a:buNone/>
            </a:pPr>
            <a:r>
              <a:rPr lang="en-US" sz="1300" dirty="0">
                <a:solidFill>
                  <a:srgbClr val="6A6A75"/>
                </a:solidFill>
                <a:latin typeface="Calibri" pitchFamily="34" charset="0"/>
                <a:ea typeface="Calibri" pitchFamily="34" charset="-122"/>
                <a:cs typeface="Calibri" pitchFamily="34" charset="-120"/>
              </a:rPr>
              <a:t>GirlCode Hackathon  ·  Cape Town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808"/>
        </a:solidFill>
      </p:bgPr>
    </p:bg>
    <p:spTree>
      <p:nvGrpSpPr>
        <p:cNvPr id="1" name=""/>
        <p:cNvGrpSpPr/>
        <p:nvPr/>
      </p:nvGrpSpPr>
      <p:grpSpPr>
        <a:xfrm>
          <a:off x="0" y="0"/>
          <a:ext cx="0" cy="0"/>
          <a:chOff x="0" y="0"/>
          <a:chExt cx="0" cy="0"/>
        </a:xfrm>
      </p:grpSpPr>
      <p:sp>
        <p:nvSpPr>
          <p:cNvPr id="2" name="Shape 0"/>
          <p:cNvSpPr/>
          <p:nvPr/>
        </p:nvSpPr>
        <p:spPr>
          <a:xfrm>
            <a:off x="7315200" y="-2194560"/>
            <a:ext cx="8686800" cy="8686800"/>
          </a:xfrm>
          <a:prstGeom prst="ellipse">
            <a:avLst/>
          </a:prstGeom>
          <a:solidFill>
            <a:srgbClr val="16130A"/>
          </a:solidFill>
          <a:ln/>
        </p:spPr>
      </p:sp>
      <p:sp>
        <p:nvSpPr>
          <p:cNvPr id="3" name="Text 1"/>
          <p:cNvSpPr/>
          <p:nvPr/>
        </p:nvSpPr>
        <p:spPr>
          <a:xfrm>
            <a:off x="822960" y="1371600"/>
            <a:ext cx="5486400" cy="1463040"/>
          </a:xfrm>
          <a:prstGeom prst="rect">
            <a:avLst/>
          </a:prstGeom>
          <a:noFill/>
          <a:ln/>
        </p:spPr>
        <p:txBody>
          <a:bodyPr wrap="square" lIns="0" tIns="0" rIns="0" bIns="0" rtlCol="0" anchor="ctr"/>
          <a:lstStyle/>
          <a:p>
            <a:pPr indent="0" marL="0">
              <a:buNone/>
            </a:pPr>
            <a:r>
              <a:rPr lang="en-US" sz="8800" b="1" dirty="0">
                <a:solidFill>
                  <a:srgbClr val="FFD400"/>
                </a:solidFill>
                <a:latin typeface="Arial" pitchFamily="34" charset="0"/>
                <a:ea typeface="Arial" pitchFamily="34" charset="-122"/>
                <a:cs typeface="Arial" pitchFamily="34" charset="-120"/>
              </a:rPr>
              <a:t>18:40</a:t>
            </a:r>
            <a:endParaRPr lang="en-US" sz="8800" dirty="0"/>
          </a:p>
        </p:txBody>
      </p:sp>
      <p:sp>
        <p:nvSpPr>
          <p:cNvPr id="4" name="Text 2"/>
          <p:cNvSpPr/>
          <p:nvPr/>
        </p:nvSpPr>
        <p:spPr>
          <a:xfrm>
            <a:off x="868680" y="2788920"/>
            <a:ext cx="6400800" cy="457200"/>
          </a:xfrm>
          <a:prstGeom prst="rect">
            <a:avLst/>
          </a:prstGeom>
          <a:noFill/>
          <a:ln/>
        </p:spPr>
        <p:txBody>
          <a:bodyPr wrap="square" lIns="0" tIns="0" rIns="0" bIns="0" rtlCol="0" anchor="ctr"/>
          <a:lstStyle/>
          <a:p>
            <a:pPr indent="0" marL="0">
              <a:buNone/>
            </a:pPr>
            <a:r>
              <a:rPr lang="en-US" sz="2100" dirty="0">
                <a:solidFill>
                  <a:srgbClr val="B6B6C2"/>
                </a:solidFill>
                <a:latin typeface="Calibri" pitchFamily="34" charset="0"/>
                <a:ea typeface="Calibri" pitchFamily="34" charset="-122"/>
                <a:cs typeface="Calibri" pitchFamily="34" charset="-120"/>
              </a:rPr>
              <a:t>Cape Town Station taxi deck.</a:t>
            </a:r>
            <a:endParaRPr lang="en-US" sz="2100" dirty="0"/>
          </a:p>
        </p:txBody>
      </p:sp>
      <p:sp>
        <p:nvSpPr>
          <p:cNvPr id="5" name="Text 3"/>
          <p:cNvSpPr/>
          <p:nvPr/>
        </p:nvSpPr>
        <p:spPr>
          <a:xfrm>
            <a:off x="822960" y="3657600"/>
            <a:ext cx="685800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Her phone died an hour ago.</a:t>
            </a:r>
            <a:endParaRPr lang="en-US" sz="3400" dirty="0"/>
          </a:p>
        </p:txBody>
      </p:sp>
      <p:sp>
        <p:nvSpPr>
          <p:cNvPr id="6" name="Shape 4"/>
          <p:cNvSpPr/>
          <p:nvPr/>
        </p:nvSpPr>
        <p:spPr>
          <a:xfrm>
            <a:off x="8229600" y="2377440"/>
            <a:ext cx="3108960" cy="2011680"/>
          </a:xfrm>
          <a:prstGeom prst="roundRect">
            <a:avLst>
              <a:gd name="adj" fmla="val 5455"/>
            </a:avLst>
          </a:prstGeom>
          <a:solidFill>
            <a:srgbClr val="1E1E26"/>
          </a:solidFill>
          <a:ln w="12700">
            <a:solidFill>
              <a:srgbClr val="2C2C36"/>
            </a:solidFill>
            <a:prstDash val="solid"/>
          </a:ln>
        </p:spPr>
      </p:sp>
      <p:sp>
        <p:nvSpPr>
          <p:cNvPr id="7" name="Text 5"/>
          <p:cNvSpPr/>
          <p:nvPr/>
        </p:nvSpPr>
        <p:spPr>
          <a:xfrm>
            <a:off x="8229600" y="2834640"/>
            <a:ext cx="3108960" cy="1097280"/>
          </a:xfrm>
          <a:prstGeom prst="rect">
            <a:avLst/>
          </a:prstGeom>
          <a:noFill/>
          <a:ln/>
        </p:spPr>
        <p:txBody>
          <a:bodyPr wrap="square" lIns="0" tIns="0" rIns="0" bIns="0" rtlCol="0" anchor="ctr"/>
          <a:lstStyle/>
          <a:p>
            <a:pPr algn="ctr" indent="0" marL="0">
              <a:buNone/>
            </a:pPr>
            <a:r>
              <a:rPr lang="en-US" sz="6400" b="1" dirty="0">
                <a:solidFill>
                  <a:srgbClr val="FF6B6B"/>
                </a:solidFill>
                <a:latin typeface="Arial" pitchFamily="34" charset="0"/>
                <a:ea typeface="Arial" pitchFamily="34" charset="-122"/>
                <a:cs typeface="Arial" pitchFamily="34" charset="-120"/>
              </a:rPr>
              <a:t>3%</a:t>
            </a:r>
            <a:endParaRPr lang="en-US" sz="6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822960" y="1920240"/>
            <a:ext cx="10515600" cy="822960"/>
          </a:xfrm>
          <a:prstGeom prst="rect">
            <a:avLst/>
          </a:prstGeom>
          <a:noFill/>
          <a:ln/>
        </p:spPr>
        <p:txBody>
          <a:bodyPr wrap="square" lIns="0" tIns="0" rIns="0" bIns="0" rtlCol="0" anchor="ctr"/>
          <a:lstStyle/>
          <a:p>
            <a:pPr indent="0" marL="0">
              <a:buNone/>
            </a:pPr>
            <a:r>
              <a:rPr lang="en-US" sz="4000" dirty="0">
                <a:solidFill>
                  <a:srgbClr val="3A3A45"/>
                </a:solidFill>
                <a:latin typeface="Arial" pitchFamily="34" charset="0"/>
                <a:ea typeface="Arial" pitchFamily="34" charset="-122"/>
                <a:cs typeface="Arial" pitchFamily="34" charset="-120"/>
              </a:rPr>
              <a:t>The cabinet had a bank in it</a:t>
            </a:r>
            <a:endParaRPr lang="en-US" sz="4000" dirty="0"/>
          </a:p>
        </p:txBody>
      </p:sp>
      <p:sp>
        <p:nvSpPr>
          <p:cNvPr id="3" name="Text 1"/>
          <p:cNvSpPr/>
          <p:nvPr/>
        </p:nvSpPr>
        <p:spPr>
          <a:xfrm>
            <a:off x="822960" y="2743200"/>
            <a:ext cx="10515600" cy="822960"/>
          </a:xfrm>
          <a:prstGeom prst="rect">
            <a:avLst/>
          </a:prstGeom>
          <a:noFill/>
          <a:ln/>
        </p:spPr>
        <p:txBody>
          <a:bodyPr wrap="square" lIns="0" tIns="0" rIns="0" bIns="0" rtlCol="0" anchor="ctr"/>
          <a:lstStyle/>
          <a:p>
            <a:pPr indent="0" marL="0">
              <a:buNone/>
            </a:pPr>
            <a:r>
              <a:rPr lang="en-US" sz="4000" b="1" dirty="0">
                <a:solidFill>
                  <a:srgbClr val="080808"/>
                </a:solidFill>
                <a:latin typeface="Arial" pitchFamily="34" charset="0"/>
                <a:ea typeface="Arial" pitchFamily="34" charset="-122"/>
                <a:cs typeface="Arial" pitchFamily="34" charset="-120"/>
              </a:rPr>
              <a:t>because a model said it would be needed.</a:t>
            </a:r>
            <a:endParaRPr lang="en-US" sz="4000" dirty="0"/>
          </a:p>
        </p:txBody>
      </p:sp>
      <p:sp>
        <p:nvSpPr>
          <p:cNvPr id="4" name="Text 2"/>
          <p:cNvSpPr/>
          <p:nvPr/>
        </p:nvSpPr>
        <p:spPr>
          <a:xfrm>
            <a:off x="822960" y="4023360"/>
            <a:ext cx="10515600" cy="457200"/>
          </a:xfrm>
          <a:prstGeom prst="rect">
            <a:avLst/>
          </a:prstGeom>
          <a:noFill/>
          <a:ln/>
        </p:spPr>
        <p:txBody>
          <a:bodyPr wrap="square" lIns="0" tIns="0" rIns="0" bIns="0" rtlCol="0" anchor="ctr"/>
          <a:lstStyle/>
          <a:p>
            <a:pPr indent="0" marL="0">
              <a:buNone/>
            </a:pPr>
            <a:r>
              <a:rPr lang="en-US" sz="1900" dirty="0">
                <a:solidFill>
                  <a:srgbClr val="5A5A66"/>
                </a:solidFill>
                <a:latin typeface="Calibri" pitchFamily="34" charset="0"/>
                <a:ea typeface="Calibri" pitchFamily="34" charset="-122"/>
                <a:cs typeface="Calibri" pitchFamily="34" charset="-120"/>
              </a:rPr>
              <a:t>Busiest forecast hour: 17:00 — when everybody is going home.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822960" y="640080"/>
            <a:ext cx="10515600" cy="640080"/>
          </a:xfrm>
          <a:prstGeom prst="rect">
            <a:avLst/>
          </a:prstGeom>
          <a:noFill/>
          <a:ln/>
        </p:spPr>
        <p:txBody>
          <a:bodyPr wrap="square" lIns="0" tIns="0" rIns="0" bIns="0" rtlCol="0" anchor="ctr"/>
          <a:lstStyle/>
          <a:p>
            <a:pPr indent="0" marL="0">
              <a:buNone/>
            </a:pPr>
            <a:r>
              <a:rPr lang="en-US" sz="3200" b="1" dirty="0">
                <a:solidFill>
                  <a:srgbClr val="080808"/>
                </a:solidFill>
                <a:latin typeface="Arial" pitchFamily="34" charset="0"/>
                <a:ea typeface="Arial" pitchFamily="34" charset="-122"/>
                <a:cs typeface="Arial" pitchFamily="34" charset="-120"/>
              </a:rPr>
              <a:t>Demand peaks when the walk home starts.</a:t>
            </a:r>
            <a:endParaRPr lang="en-US" sz="3200" dirty="0"/>
          </a:p>
        </p:txBody>
      </p:sp>
      <p:graphicFrame>
        <p:nvGraphicFramePr>
          <p:cNvPr id="3" name="Chart 0" descr=""/>
          <p:cNvGraphicFramePr/>
          <p:nvPr/>
        </p:nvGraphicFramePr>
        <p:xfrm>
          <a:off x="822960" y="1554480"/>
          <a:ext cx="1051560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822960" y="5532120"/>
            <a:ext cx="10515600" cy="365760"/>
          </a:xfrm>
          <a:prstGeom prst="rect">
            <a:avLst/>
          </a:prstGeom>
          <a:noFill/>
          <a:ln/>
        </p:spPr>
        <p:txBody>
          <a:bodyPr wrap="square" lIns="0" tIns="0" rIns="0" bIns="0" rtlCol="0" anchor="ctr"/>
          <a:lstStyle/>
          <a:p>
            <a:pPr indent="0" marL="0">
              <a:buNone/>
            </a:pPr>
            <a:r>
              <a:rPr lang="en-US" sz="1300" dirty="0">
                <a:solidFill>
                  <a:srgbClr val="6A6A75"/>
                </a:solidFill>
                <a:latin typeface="Calibri" pitchFamily="34" charset="0"/>
                <a:ea typeface="Calibri" pitchFamily="34" charset="-122"/>
                <a:cs typeface="Calibri" pitchFamily="34" charset="-120"/>
              </a:rPr>
              <a:t>Real model output. 7 taxi rank and campus sites.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808"/>
        </a:solidFill>
      </p:bgPr>
    </p:bg>
    <p:spTree>
      <p:nvGrpSpPr>
        <p:cNvPr id="1" name=""/>
        <p:cNvGrpSpPr/>
        <p:nvPr/>
      </p:nvGrpSpPr>
      <p:grpSpPr>
        <a:xfrm>
          <a:off x="0" y="0"/>
          <a:ext cx="0" cy="0"/>
          <a:chOff x="0" y="0"/>
          <a:chExt cx="0" cy="0"/>
        </a:xfrm>
      </p:grpSpPr>
      <p:sp>
        <p:nvSpPr>
          <p:cNvPr id="2" name="Text 0"/>
          <p:cNvSpPr/>
          <p:nvPr/>
        </p:nvSpPr>
        <p:spPr>
          <a:xfrm>
            <a:off x="822960" y="640080"/>
            <a:ext cx="105156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Four models.</a:t>
            </a:r>
            <a:endParaRPr lang="en-US" sz="3400" dirty="0"/>
          </a:p>
        </p:txBody>
      </p:sp>
      <p:sp>
        <p:nvSpPr>
          <p:cNvPr id="3" name="Text 1"/>
          <p:cNvSpPr/>
          <p:nvPr/>
        </p:nvSpPr>
        <p:spPr>
          <a:xfrm>
            <a:off x="822960" y="1234440"/>
            <a:ext cx="10515600" cy="457200"/>
          </a:xfrm>
          <a:prstGeom prst="rect">
            <a:avLst/>
          </a:prstGeom>
          <a:noFill/>
          <a:ln/>
        </p:spPr>
        <p:txBody>
          <a:bodyPr wrap="square" lIns="0" tIns="0" rIns="0" bIns="0" rtlCol="0" anchor="ctr"/>
          <a:lstStyle/>
          <a:p>
            <a:pPr indent="0" marL="0">
              <a:buNone/>
            </a:pPr>
            <a:r>
              <a:rPr lang="en-US" sz="1800" dirty="0">
                <a:solidFill>
                  <a:srgbClr val="B6B6C2"/>
                </a:solidFill>
                <a:latin typeface="Calibri" pitchFamily="34" charset="0"/>
                <a:ea typeface="Calibri" pitchFamily="34" charset="-122"/>
                <a:cs typeface="Calibri" pitchFamily="34" charset="-120"/>
              </a:rPr>
              <a:t>Three of them are not language models.</a:t>
            </a:r>
            <a:endParaRPr lang="en-US" sz="1800" dirty="0"/>
          </a:p>
        </p:txBody>
      </p:sp>
      <p:sp>
        <p:nvSpPr>
          <p:cNvPr id="4" name="Shape 2"/>
          <p:cNvSpPr/>
          <p:nvPr/>
        </p:nvSpPr>
        <p:spPr>
          <a:xfrm>
            <a:off x="822960" y="2194560"/>
            <a:ext cx="2423160" cy="2286000"/>
          </a:xfrm>
          <a:prstGeom prst="roundRect">
            <a:avLst>
              <a:gd name="adj" fmla="val 4800"/>
            </a:avLst>
          </a:prstGeom>
          <a:solidFill>
            <a:srgbClr val="16161C"/>
          </a:solidFill>
          <a:ln w="12700">
            <a:solidFill>
              <a:srgbClr val="2C2C36"/>
            </a:solidFill>
            <a:prstDash val="solid"/>
          </a:ln>
        </p:spPr>
      </p:sp>
      <p:sp>
        <p:nvSpPr>
          <p:cNvPr id="5" name="Text 3"/>
          <p:cNvSpPr/>
          <p:nvPr/>
        </p:nvSpPr>
        <p:spPr>
          <a:xfrm>
            <a:off x="1051560" y="2468880"/>
            <a:ext cx="1965960" cy="731520"/>
          </a:xfrm>
          <a:prstGeom prst="rect">
            <a:avLst/>
          </a:prstGeom>
          <a:noFill/>
          <a:ln/>
        </p:spPr>
        <p:txBody>
          <a:bodyPr wrap="square" lIns="0" tIns="0" rIns="0" bIns="0" rtlCol="0" anchor="ctr"/>
          <a:lstStyle/>
          <a:p>
            <a:pPr indent="0" marL="0">
              <a:buNone/>
            </a:pPr>
            <a:r>
              <a:rPr lang="en-US" sz="4000" b="1" dirty="0">
                <a:solidFill>
                  <a:srgbClr val="FFD400"/>
                </a:solidFill>
                <a:latin typeface="Arial" pitchFamily="34" charset="0"/>
                <a:ea typeface="Arial" pitchFamily="34" charset="-122"/>
                <a:cs typeface="Arial" pitchFamily="34" charset="-120"/>
              </a:rPr>
              <a:t>2.064</a:t>
            </a:r>
            <a:endParaRPr lang="en-US" sz="4000" dirty="0"/>
          </a:p>
        </p:txBody>
      </p:sp>
      <p:sp>
        <p:nvSpPr>
          <p:cNvPr id="6" name="Text 4"/>
          <p:cNvSpPr/>
          <p:nvPr/>
        </p:nvSpPr>
        <p:spPr>
          <a:xfrm>
            <a:off x="1051560" y="3246120"/>
            <a:ext cx="1965960" cy="5486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Demand forecast error</a:t>
            </a:r>
            <a:endParaRPr lang="en-US" sz="1400" dirty="0"/>
          </a:p>
        </p:txBody>
      </p:sp>
      <p:sp>
        <p:nvSpPr>
          <p:cNvPr id="7" name="Text 5"/>
          <p:cNvSpPr/>
          <p:nvPr/>
        </p:nvSpPr>
        <p:spPr>
          <a:xfrm>
            <a:off x="1051560" y="3749040"/>
            <a:ext cx="1965960" cy="640080"/>
          </a:xfrm>
          <a:prstGeom prst="rect">
            <a:avLst/>
          </a:prstGeom>
          <a:noFill/>
          <a:ln/>
        </p:spPr>
        <p:txBody>
          <a:bodyPr wrap="square" lIns="0" tIns="0" rIns="0" bIns="0" rtlCol="0" anchor="ctr"/>
          <a:lstStyle/>
          <a:p>
            <a:pPr indent="0" marL="0">
              <a:lnSpc>
                <a:spcPts val="1600"/>
              </a:lnSpc>
              <a:buNone/>
            </a:pPr>
            <a:r>
              <a:rPr lang="en-US" sz="1150" dirty="0">
                <a:solidFill>
                  <a:srgbClr val="B6B6C2"/>
                </a:solidFill>
                <a:latin typeface="Calibri" pitchFamily="34" charset="0"/>
                <a:ea typeface="Calibri" pitchFamily="34" charset="-122"/>
                <a:cs typeface="Calibri" pitchFamily="34" charset="-120"/>
              </a:rPr>
              <a:t>21.6% better than baseline</a:t>
            </a:r>
            <a:endParaRPr lang="en-US" sz="1150" dirty="0"/>
          </a:p>
        </p:txBody>
      </p:sp>
      <p:sp>
        <p:nvSpPr>
          <p:cNvPr id="8" name="Shape 6"/>
          <p:cNvSpPr/>
          <p:nvPr/>
        </p:nvSpPr>
        <p:spPr>
          <a:xfrm>
            <a:off x="3520440" y="2194560"/>
            <a:ext cx="2423160" cy="2286000"/>
          </a:xfrm>
          <a:prstGeom prst="roundRect">
            <a:avLst>
              <a:gd name="adj" fmla="val 4800"/>
            </a:avLst>
          </a:prstGeom>
          <a:solidFill>
            <a:srgbClr val="16161C"/>
          </a:solidFill>
          <a:ln w="12700">
            <a:solidFill>
              <a:srgbClr val="2C2C36"/>
            </a:solidFill>
            <a:prstDash val="solid"/>
          </a:ln>
        </p:spPr>
      </p:sp>
      <p:sp>
        <p:nvSpPr>
          <p:cNvPr id="9" name="Text 7"/>
          <p:cNvSpPr/>
          <p:nvPr/>
        </p:nvSpPr>
        <p:spPr>
          <a:xfrm>
            <a:off x="3749040" y="2468880"/>
            <a:ext cx="1965960" cy="731520"/>
          </a:xfrm>
          <a:prstGeom prst="rect">
            <a:avLst/>
          </a:prstGeom>
          <a:noFill/>
          <a:ln/>
        </p:spPr>
        <p:txBody>
          <a:bodyPr wrap="square" lIns="0" tIns="0" rIns="0" bIns="0" rtlCol="0" anchor="ctr"/>
          <a:lstStyle/>
          <a:p>
            <a:pPr indent="0" marL="0">
              <a:buNone/>
            </a:pPr>
            <a:r>
              <a:rPr lang="en-US" sz="4000" b="1" dirty="0">
                <a:solidFill>
                  <a:srgbClr val="FFD400"/>
                </a:solidFill>
                <a:latin typeface="Arial" pitchFamily="34" charset="0"/>
                <a:ea typeface="Arial" pitchFamily="34" charset="-122"/>
                <a:cs typeface="Arial" pitchFamily="34" charset="-120"/>
              </a:rPr>
              <a:t>0.863</a:t>
            </a:r>
            <a:endParaRPr lang="en-US" sz="4000" dirty="0"/>
          </a:p>
        </p:txBody>
      </p:sp>
      <p:sp>
        <p:nvSpPr>
          <p:cNvPr id="10" name="Text 8"/>
          <p:cNvSpPr/>
          <p:nvPr/>
        </p:nvSpPr>
        <p:spPr>
          <a:xfrm>
            <a:off x="3749040" y="3246120"/>
            <a:ext cx="1965960" cy="5486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Battery failure AUC</a:t>
            </a:r>
            <a:endParaRPr lang="en-US" sz="1400" dirty="0"/>
          </a:p>
        </p:txBody>
      </p:sp>
      <p:sp>
        <p:nvSpPr>
          <p:cNvPr id="11" name="Text 9"/>
          <p:cNvSpPr/>
          <p:nvPr/>
        </p:nvSpPr>
        <p:spPr>
          <a:xfrm>
            <a:off x="3749040" y="3749040"/>
            <a:ext cx="1965960" cy="640080"/>
          </a:xfrm>
          <a:prstGeom prst="rect">
            <a:avLst/>
          </a:prstGeom>
          <a:noFill/>
          <a:ln/>
        </p:spPr>
        <p:txBody>
          <a:bodyPr wrap="square" lIns="0" tIns="0" rIns="0" bIns="0" rtlCol="0" anchor="ctr"/>
          <a:lstStyle/>
          <a:p>
            <a:pPr indent="0" marL="0">
              <a:lnSpc>
                <a:spcPts val="1600"/>
              </a:lnSpc>
              <a:buNone/>
            </a:pPr>
            <a:r>
              <a:rPr lang="en-US" sz="1150" dirty="0">
                <a:solidFill>
                  <a:srgbClr val="B6B6C2"/>
                </a:solidFill>
                <a:latin typeface="Calibri" pitchFamily="34" charset="0"/>
                <a:ea typeface="Calibri" pitchFamily="34" charset="-122"/>
                <a:cs typeface="Calibri" pitchFamily="34" charset="-120"/>
              </a:rPr>
              <a:t>632 banks scored</a:t>
            </a:r>
            <a:endParaRPr lang="en-US" sz="1150" dirty="0"/>
          </a:p>
        </p:txBody>
      </p:sp>
      <p:sp>
        <p:nvSpPr>
          <p:cNvPr id="12" name="Shape 10"/>
          <p:cNvSpPr/>
          <p:nvPr/>
        </p:nvSpPr>
        <p:spPr>
          <a:xfrm>
            <a:off x="6217920" y="2194560"/>
            <a:ext cx="2423160" cy="2286000"/>
          </a:xfrm>
          <a:prstGeom prst="roundRect">
            <a:avLst>
              <a:gd name="adj" fmla="val 4800"/>
            </a:avLst>
          </a:prstGeom>
          <a:solidFill>
            <a:srgbClr val="16161C"/>
          </a:solidFill>
          <a:ln w="12700">
            <a:solidFill>
              <a:srgbClr val="2C2C36"/>
            </a:solidFill>
            <a:prstDash val="solid"/>
          </a:ln>
        </p:spPr>
      </p:sp>
      <p:sp>
        <p:nvSpPr>
          <p:cNvPr id="13" name="Text 11"/>
          <p:cNvSpPr/>
          <p:nvPr/>
        </p:nvSpPr>
        <p:spPr>
          <a:xfrm>
            <a:off x="6446520" y="2468880"/>
            <a:ext cx="1965960" cy="731520"/>
          </a:xfrm>
          <a:prstGeom prst="rect">
            <a:avLst/>
          </a:prstGeom>
          <a:noFill/>
          <a:ln/>
        </p:spPr>
        <p:txBody>
          <a:bodyPr wrap="square" lIns="0" tIns="0" rIns="0" bIns="0" rtlCol="0" anchor="ctr"/>
          <a:lstStyle/>
          <a:p>
            <a:pPr indent="0" marL="0">
              <a:buNone/>
            </a:pPr>
            <a:r>
              <a:rPr lang="en-US" sz="4000" b="1" dirty="0">
                <a:solidFill>
                  <a:srgbClr val="FFD400"/>
                </a:solidFill>
                <a:latin typeface="Arial" pitchFamily="34" charset="0"/>
                <a:ea typeface="Arial" pitchFamily="34" charset="-122"/>
                <a:cs typeface="Arial" pitchFamily="34" charset="-120"/>
              </a:rPr>
              <a:t>171</a:t>
            </a:r>
            <a:endParaRPr lang="en-US" sz="4000" dirty="0"/>
          </a:p>
        </p:txBody>
      </p:sp>
      <p:sp>
        <p:nvSpPr>
          <p:cNvPr id="14" name="Text 12"/>
          <p:cNvSpPr/>
          <p:nvPr/>
        </p:nvSpPr>
        <p:spPr>
          <a:xfrm>
            <a:off x="6446520" y="3246120"/>
            <a:ext cx="1965960" cy="5486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Banks short at stage 4</a:t>
            </a:r>
            <a:endParaRPr lang="en-US" sz="1400" dirty="0"/>
          </a:p>
        </p:txBody>
      </p:sp>
      <p:sp>
        <p:nvSpPr>
          <p:cNvPr id="15" name="Text 13"/>
          <p:cNvSpPr/>
          <p:nvPr/>
        </p:nvSpPr>
        <p:spPr>
          <a:xfrm>
            <a:off x="6446520" y="3749040"/>
            <a:ext cx="1965960" cy="640080"/>
          </a:xfrm>
          <a:prstGeom prst="rect">
            <a:avLst/>
          </a:prstGeom>
          <a:noFill/>
          <a:ln/>
        </p:spPr>
        <p:txBody>
          <a:bodyPr wrap="square" lIns="0" tIns="0" rIns="0" bIns="0" rtlCol="0" anchor="ctr"/>
          <a:lstStyle/>
          <a:p>
            <a:pPr indent="0" marL="0">
              <a:lnSpc>
                <a:spcPts val="1600"/>
              </a:lnSpc>
              <a:buNone/>
            </a:pPr>
            <a:r>
              <a:rPr lang="en-US" sz="1150" dirty="0">
                <a:solidFill>
                  <a:srgbClr val="B6B6C2"/>
                </a:solidFill>
                <a:latin typeface="Calibri" pitchFamily="34" charset="0"/>
                <a:ea typeface="Calibri" pitchFamily="34" charset="-122"/>
                <a:cs typeface="Calibri" pitchFamily="34" charset="-120"/>
              </a:rPr>
              <a:t>where the next cabinet goes</a:t>
            </a:r>
            <a:endParaRPr lang="en-US" sz="1150" dirty="0"/>
          </a:p>
        </p:txBody>
      </p:sp>
      <p:sp>
        <p:nvSpPr>
          <p:cNvPr id="16" name="Shape 14"/>
          <p:cNvSpPr/>
          <p:nvPr/>
        </p:nvSpPr>
        <p:spPr>
          <a:xfrm>
            <a:off x="8915400" y="2194560"/>
            <a:ext cx="2423160" cy="2286000"/>
          </a:xfrm>
          <a:prstGeom prst="roundRect">
            <a:avLst>
              <a:gd name="adj" fmla="val 4800"/>
            </a:avLst>
          </a:prstGeom>
          <a:solidFill>
            <a:srgbClr val="16161C"/>
          </a:solidFill>
          <a:ln w="12700">
            <a:solidFill>
              <a:srgbClr val="2C2C36"/>
            </a:solidFill>
            <a:prstDash val="solid"/>
          </a:ln>
        </p:spPr>
      </p:sp>
      <p:sp>
        <p:nvSpPr>
          <p:cNvPr id="17" name="Text 15"/>
          <p:cNvSpPr/>
          <p:nvPr/>
        </p:nvSpPr>
        <p:spPr>
          <a:xfrm>
            <a:off x="9144000" y="2468880"/>
            <a:ext cx="1965960" cy="731520"/>
          </a:xfrm>
          <a:prstGeom prst="rect">
            <a:avLst/>
          </a:prstGeom>
          <a:noFill/>
          <a:ln/>
        </p:spPr>
        <p:txBody>
          <a:bodyPr wrap="square" lIns="0" tIns="0" rIns="0" bIns="0" rtlCol="0" anchor="ctr"/>
          <a:lstStyle/>
          <a:p>
            <a:pPr indent="0" marL="0">
              <a:buNone/>
            </a:pPr>
            <a:r>
              <a:rPr lang="en-US" sz="4000" b="1" dirty="0">
                <a:solidFill>
                  <a:srgbClr val="FFD400"/>
                </a:solidFill>
                <a:latin typeface="Arial" pitchFamily="34" charset="0"/>
                <a:ea typeface="Arial" pitchFamily="34" charset="-122"/>
                <a:cs typeface="Arial" pitchFamily="34" charset="-120"/>
              </a:rPr>
              <a:t>5</a:t>
            </a:r>
            <a:endParaRPr lang="en-US" sz="4000" dirty="0"/>
          </a:p>
        </p:txBody>
      </p:sp>
      <p:sp>
        <p:nvSpPr>
          <p:cNvPr id="18" name="Text 16"/>
          <p:cNvSpPr/>
          <p:nvPr/>
        </p:nvSpPr>
        <p:spPr>
          <a:xfrm>
            <a:off x="9144000" y="3246120"/>
            <a:ext cx="1965960" cy="5486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Languages</a:t>
            </a:r>
            <a:endParaRPr lang="en-US" sz="1400" dirty="0"/>
          </a:p>
        </p:txBody>
      </p:sp>
      <p:sp>
        <p:nvSpPr>
          <p:cNvPr id="19" name="Text 17"/>
          <p:cNvSpPr/>
          <p:nvPr/>
        </p:nvSpPr>
        <p:spPr>
          <a:xfrm>
            <a:off x="9144000" y="3749040"/>
            <a:ext cx="1965960" cy="640080"/>
          </a:xfrm>
          <a:prstGeom prst="rect">
            <a:avLst/>
          </a:prstGeom>
          <a:noFill/>
          <a:ln/>
        </p:spPr>
        <p:txBody>
          <a:bodyPr wrap="square" lIns="0" tIns="0" rIns="0" bIns="0" rtlCol="0" anchor="ctr"/>
          <a:lstStyle/>
          <a:p>
            <a:pPr indent="0" marL="0">
              <a:lnSpc>
                <a:spcPts val="1600"/>
              </a:lnSpc>
              <a:buNone/>
            </a:pPr>
            <a:r>
              <a:rPr lang="en-US" sz="1150" dirty="0">
                <a:solidFill>
                  <a:srgbClr val="B6B6C2"/>
                </a:solidFill>
                <a:latin typeface="Calibri" pitchFamily="34" charset="0"/>
                <a:ea typeface="Calibri" pitchFamily="34" charset="-122"/>
                <a:cs typeface="Calibri" pitchFamily="34" charset="-120"/>
              </a:rPr>
              <a:t>answers from our own policies</a:t>
            </a:r>
            <a:endParaRPr lang="en-US" sz="1150" dirty="0"/>
          </a:p>
        </p:txBody>
      </p:sp>
      <p:sp>
        <p:nvSpPr>
          <p:cNvPr id="20" name="Text 18"/>
          <p:cNvSpPr/>
          <p:nvPr/>
        </p:nvSpPr>
        <p:spPr>
          <a:xfrm>
            <a:off x="822960" y="4937760"/>
            <a:ext cx="10515600" cy="457200"/>
          </a:xfrm>
          <a:prstGeom prst="rect">
            <a:avLst/>
          </a:prstGeom>
          <a:noFill/>
          <a:ln/>
        </p:spPr>
        <p:txBody>
          <a:bodyPr wrap="square" lIns="0" tIns="0" rIns="0" bIns="0" rtlCol="0" anchor="ctr"/>
          <a:lstStyle/>
          <a:p>
            <a:pPr indent="0" marL="0">
              <a:buNone/>
            </a:pPr>
            <a:r>
              <a:rPr lang="en-US" sz="1600" dirty="0">
                <a:solidFill>
                  <a:srgbClr val="B6B6C2"/>
                </a:solidFill>
                <a:latin typeface="Calibri" pitchFamily="34" charset="0"/>
                <a:ea typeface="Calibri" pitchFamily="34" charset="-122"/>
                <a:cs typeface="Calibri" pitchFamily="34" charset="-120"/>
              </a:rPr>
              <a:t>Gradient boosting, trained in 7 seconds. Runs with no internet.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822960" y="731520"/>
            <a:ext cx="10515600" cy="731520"/>
          </a:xfrm>
          <a:prstGeom prst="rect">
            <a:avLst/>
          </a:prstGeom>
          <a:noFill/>
          <a:ln/>
        </p:spPr>
        <p:txBody>
          <a:bodyPr wrap="square" lIns="0" tIns="0" rIns="0" bIns="0" rtlCol="0" anchor="ctr"/>
          <a:lstStyle/>
          <a:p>
            <a:pPr indent="0" marL="0">
              <a:buNone/>
            </a:pPr>
            <a:r>
              <a:rPr lang="en-US" sz="3400" b="1" dirty="0">
                <a:solidFill>
                  <a:srgbClr val="080808"/>
                </a:solidFill>
                <a:latin typeface="Arial" pitchFamily="34" charset="0"/>
                <a:ea typeface="Arial" pitchFamily="34" charset="-122"/>
                <a:cs typeface="Arial" pitchFamily="34" charset="-120"/>
              </a:rPr>
              <a:t>Decisions that cost us conversion.</a:t>
            </a:r>
            <a:endParaRPr lang="en-US" sz="3400" dirty="0"/>
          </a:p>
        </p:txBody>
      </p:sp>
      <p:sp>
        <p:nvSpPr>
          <p:cNvPr id="3" name="Shape 1"/>
          <p:cNvSpPr/>
          <p:nvPr/>
        </p:nvSpPr>
        <p:spPr>
          <a:xfrm>
            <a:off x="868680" y="2121408"/>
            <a:ext cx="274320" cy="274320"/>
          </a:xfrm>
          <a:prstGeom prst="ellipse">
            <a:avLst/>
          </a:prstGeom>
          <a:solidFill>
            <a:srgbClr val="FFD400"/>
          </a:solidFill>
          <a:ln/>
        </p:spPr>
      </p:sp>
      <p:sp>
        <p:nvSpPr>
          <p:cNvPr id="4" name="Text 2"/>
          <p:cNvSpPr/>
          <p:nvPr/>
        </p:nvSpPr>
        <p:spPr>
          <a:xfrm>
            <a:off x="1417320" y="2011680"/>
            <a:ext cx="9601200" cy="502920"/>
          </a:xfrm>
          <a:prstGeom prst="rect">
            <a:avLst/>
          </a:prstGeom>
          <a:noFill/>
          <a:ln/>
        </p:spPr>
        <p:txBody>
          <a:bodyPr wrap="square" lIns="0" tIns="0" rIns="0" bIns="0" rtlCol="0" anchor="ctr"/>
          <a:lstStyle/>
          <a:p>
            <a:pPr indent="0" marL="0">
              <a:buNone/>
            </a:pPr>
            <a:r>
              <a:rPr lang="en-US" sz="2400" dirty="0">
                <a:solidFill>
                  <a:srgbClr val="080808"/>
                </a:solidFill>
                <a:latin typeface="Arial" pitchFamily="34" charset="0"/>
                <a:ea typeface="Arial" pitchFamily="34" charset="-122"/>
                <a:cs typeface="Arial" pitchFamily="34" charset="-120"/>
              </a:rPr>
              <a:t>No ID document. Ever.</a:t>
            </a:r>
            <a:endParaRPr lang="en-US" sz="2400" dirty="0"/>
          </a:p>
        </p:txBody>
      </p:sp>
      <p:sp>
        <p:nvSpPr>
          <p:cNvPr id="5" name="Shape 3"/>
          <p:cNvSpPr/>
          <p:nvPr/>
        </p:nvSpPr>
        <p:spPr>
          <a:xfrm>
            <a:off x="868680" y="2990088"/>
            <a:ext cx="274320" cy="274320"/>
          </a:xfrm>
          <a:prstGeom prst="ellipse">
            <a:avLst/>
          </a:prstGeom>
          <a:solidFill>
            <a:srgbClr val="FFD400"/>
          </a:solidFill>
          <a:ln/>
        </p:spPr>
      </p:sp>
      <p:sp>
        <p:nvSpPr>
          <p:cNvPr id="6" name="Text 4"/>
          <p:cNvSpPr/>
          <p:nvPr/>
        </p:nvSpPr>
        <p:spPr>
          <a:xfrm>
            <a:off x="1417320" y="2880360"/>
            <a:ext cx="9601200" cy="502920"/>
          </a:xfrm>
          <a:prstGeom prst="rect">
            <a:avLst/>
          </a:prstGeom>
          <a:noFill/>
          <a:ln/>
        </p:spPr>
        <p:txBody>
          <a:bodyPr wrap="square" lIns="0" tIns="0" rIns="0" bIns="0" rtlCol="0" anchor="ctr"/>
          <a:lstStyle/>
          <a:p>
            <a:pPr indent="0" marL="0">
              <a:buNone/>
            </a:pPr>
            <a:r>
              <a:rPr lang="en-US" sz="2400" dirty="0">
                <a:solidFill>
                  <a:srgbClr val="080808"/>
                </a:solidFill>
                <a:latin typeface="Arial" pitchFamily="34" charset="0"/>
                <a:ea typeface="Arial" pitchFamily="34" charset="-122"/>
                <a:cs typeface="Arial" pitchFamily="34" charset="-120"/>
              </a:rPr>
              <a:t>Cabinets only where there is light.</a:t>
            </a:r>
            <a:endParaRPr lang="en-US" sz="2400" dirty="0"/>
          </a:p>
        </p:txBody>
      </p:sp>
      <p:sp>
        <p:nvSpPr>
          <p:cNvPr id="7" name="Shape 5"/>
          <p:cNvSpPr/>
          <p:nvPr/>
        </p:nvSpPr>
        <p:spPr>
          <a:xfrm>
            <a:off x="868680" y="3858768"/>
            <a:ext cx="274320" cy="274320"/>
          </a:xfrm>
          <a:prstGeom prst="ellipse">
            <a:avLst/>
          </a:prstGeom>
          <a:solidFill>
            <a:srgbClr val="FFD400"/>
          </a:solidFill>
          <a:ln/>
        </p:spPr>
      </p:sp>
      <p:sp>
        <p:nvSpPr>
          <p:cNvPr id="8" name="Text 6"/>
          <p:cNvSpPr/>
          <p:nvPr/>
        </p:nvSpPr>
        <p:spPr>
          <a:xfrm>
            <a:off x="1417320" y="3749040"/>
            <a:ext cx="9601200" cy="502920"/>
          </a:xfrm>
          <a:prstGeom prst="rect">
            <a:avLst/>
          </a:prstGeom>
          <a:noFill/>
          <a:ln/>
        </p:spPr>
        <p:txBody>
          <a:bodyPr wrap="square" lIns="0" tIns="0" rIns="0" bIns="0" rtlCol="0" anchor="ctr"/>
          <a:lstStyle/>
          <a:p>
            <a:pPr indent="0" marL="0">
              <a:buNone/>
            </a:pPr>
            <a:r>
              <a:rPr lang="en-US" sz="2400" dirty="0">
                <a:solidFill>
                  <a:srgbClr val="080808"/>
                </a:solidFill>
                <a:latin typeface="Arial" pitchFamily="34" charset="0"/>
                <a:ea typeface="Arial" pitchFamily="34" charset="-122"/>
                <a:cs typeface="Arial" pitchFamily="34" charset="-120"/>
              </a:rPr>
              <a:t>Charge held back for the trip home.</a:t>
            </a:r>
            <a:endParaRPr lang="en-US" sz="2400" dirty="0"/>
          </a:p>
        </p:txBody>
      </p:sp>
      <p:sp>
        <p:nvSpPr>
          <p:cNvPr id="9" name="Shape 7"/>
          <p:cNvSpPr/>
          <p:nvPr/>
        </p:nvSpPr>
        <p:spPr>
          <a:xfrm>
            <a:off x="868680" y="4727448"/>
            <a:ext cx="274320" cy="274320"/>
          </a:xfrm>
          <a:prstGeom prst="ellipse">
            <a:avLst/>
          </a:prstGeom>
          <a:solidFill>
            <a:srgbClr val="FFD400"/>
          </a:solidFill>
          <a:ln/>
        </p:spPr>
      </p:sp>
      <p:sp>
        <p:nvSpPr>
          <p:cNvPr id="10" name="Text 8"/>
          <p:cNvSpPr/>
          <p:nvPr/>
        </p:nvSpPr>
        <p:spPr>
          <a:xfrm>
            <a:off x="1417320" y="4617720"/>
            <a:ext cx="9601200" cy="502920"/>
          </a:xfrm>
          <a:prstGeom prst="rect">
            <a:avLst/>
          </a:prstGeom>
          <a:noFill/>
          <a:ln/>
        </p:spPr>
        <p:txBody>
          <a:bodyPr wrap="square" lIns="0" tIns="0" rIns="0" bIns="0" rtlCol="0" anchor="ctr"/>
          <a:lstStyle/>
          <a:p>
            <a:pPr indent="0" marL="0">
              <a:buNone/>
            </a:pPr>
            <a:r>
              <a:rPr lang="en-US" sz="2400" dirty="0">
                <a:solidFill>
                  <a:srgbClr val="080808"/>
                </a:solidFill>
                <a:latin typeface="Arial" pitchFamily="34" charset="0"/>
                <a:ea typeface="Arial" pitchFamily="34" charset="-122"/>
                <a:cs typeface="Arial" pitchFamily="34" charset="-120"/>
              </a:rPr>
              <a:t>We track batteries, not people.</a:t>
            </a:r>
            <a:endParaRPr lang="en-US" sz="2400" dirty="0"/>
          </a:p>
        </p:txBody>
      </p:sp>
      <p:sp>
        <p:nvSpPr>
          <p:cNvPr id="11" name="Text 9"/>
          <p:cNvSpPr/>
          <p:nvPr/>
        </p:nvSpPr>
        <p:spPr>
          <a:xfrm>
            <a:off x="822960" y="5669280"/>
            <a:ext cx="10515600" cy="365760"/>
          </a:xfrm>
          <a:prstGeom prst="rect">
            <a:avLst/>
          </a:prstGeom>
          <a:noFill/>
          <a:ln/>
        </p:spPr>
        <p:txBody>
          <a:bodyPr wrap="square" lIns="0" tIns="0" rIns="0" bIns="0" rtlCol="0" anchor="ctr"/>
          <a:lstStyle/>
          <a:p>
            <a:pPr indent="0" marL="0">
              <a:buNone/>
            </a:pPr>
            <a:r>
              <a:rPr lang="en-US" sz="1600" i="1" dirty="0">
                <a:solidFill>
                  <a:srgbClr val="6A6A75"/>
                </a:solidFill>
                <a:latin typeface="Calibri" pitchFamily="34" charset="0"/>
                <a:ea typeface="Calibri" pitchFamily="34" charset="-122"/>
                <a:cs typeface="Calibri" pitchFamily="34" charset="-120"/>
              </a:rPr>
              <a:t>POPIA by construction, not by policy.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808"/>
        </a:solidFill>
      </p:bgPr>
    </p:bg>
    <p:spTree>
      <p:nvGrpSpPr>
        <p:cNvPr id="1" name=""/>
        <p:cNvGrpSpPr/>
        <p:nvPr/>
      </p:nvGrpSpPr>
      <p:grpSpPr>
        <a:xfrm>
          <a:off x="0" y="0"/>
          <a:ext cx="0" cy="0"/>
          <a:chOff x="0" y="0"/>
          <a:chExt cx="0" cy="0"/>
        </a:xfrm>
      </p:grpSpPr>
      <p:sp>
        <p:nvSpPr>
          <p:cNvPr id="2" name="Text 0"/>
          <p:cNvSpPr/>
          <p:nvPr/>
        </p:nvSpPr>
        <p:spPr>
          <a:xfrm>
            <a:off x="822960" y="237744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Arial" pitchFamily="34" charset="0"/>
                <a:ea typeface="Arial" pitchFamily="34" charset="-122"/>
                <a:cs typeface="Arial" pitchFamily="34" charset="-120"/>
              </a:rPr>
              <a:t>Live demo</a:t>
            </a:r>
            <a:endParaRPr lang="en-US" sz="5400" dirty="0"/>
          </a:p>
        </p:txBody>
      </p:sp>
      <p:sp>
        <p:nvSpPr>
          <p:cNvPr id="3" name="Text 1"/>
          <p:cNvSpPr/>
          <p:nvPr/>
        </p:nvSpPr>
        <p:spPr>
          <a:xfrm>
            <a:off x="868680" y="3474720"/>
            <a:ext cx="10515600" cy="457200"/>
          </a:xfrm>
          <a:prstGeom prst="rect">
            <a:avLst/>
          </a:prstGeom>
          <a:noFill/>
          <a:ln/>
        </p:spPr>
        <p:txBody>
          <a:bodyPr wrap="square" lIns="0" tIns="0" rIns="0" bIns="0" rtlCol="0" anchor="ctr"/>
          <a:lstStyle/>
          <a:p>
            <a:pPr indent="0" marL="0">
              <a:buNone/>
            </a:pPr>
            <a:r>
              <a:rPr lang="en-US" sz="2000" dirty="0">
                <a:solidFill>
                  <a:srgbClr val="B6B6C2"/>
                </a:solidFill>
                <a:latin typeface="Calibri" pitchFamily="34" charset="0"/>
                <a:ea typeface="Calibri" pitchFamily="34" charset="-122"/>
                <a:cs typeface="Calibri" pitchFamily="34" charset="-120"/>
              </a:rPr>
              <a:t>Scan → pay → collect → return.  Then the network behind it.</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808"/>
        </a:solidFill>
      </p:bgPr>
    </p:bg>
    <p:spTree>
      <p:nvGrpSpPr>
        <p:cNvPr id="1" name=""/>
        <p:cNvGrpSpPr/>
        <p:nvPr/>
      </p:nvGrpSpPr>
      <p:grpSpPr>
        <a:xfrm>
          <a:off x="0" y="0"/>
          <a:ext cx="0" cy="0"/>
          <a:chOff x="0" y="0"/>
          <a:chExt cx="0" cy="0"/>
        </a:xfrm>
      </p:grpSpPr>
      <p:sp>
        <p:nvSpPr>
          <p:cNvPr id="2" name="Shape 0"/>
          <p:cNvSpPr/>
          <p:nvPr/>
        </p:nvSpPr>
        <p:spPr>
          <a:xfrm>
            <a:off x="-1828800" y="3108960"/>
            <a:ext cx="6217920" cy="6217920"/>
          </a:xfrm>
          <a:prstGeom prst="ellipse">
            <a:avLst/>
          </a:prstGeom>
          <a:solidFill>
            <a:srgbClr val="1A1705"/>
          </a:solidFill>
          <a:ln/>
        </p:spPr>
      </p:sp>
      <p:sp>
        <p:nvSpPr>
          <p:cNvPr id="3" name="Text 1"/>
          <p:cNvSpPr/>
          <p:nvPr/>
        </p:nvSpPr>
        <p:spPr>
          <a:xfrm>
            <a:off x="822960" y="822960"/>
            <a:ext cx="10515600" cy="64008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Next</a:t>
            </a:r>
            <a:endParaRPr lang="en-US" sz="3200" dirty="0"/>
          </a:p>
        </p:txBody>
      </p:sp>
      <p:sp>
        <p:nvSpPr>
          <p:cNvPr id="4" name="Shape 2"/>
          <p:cNvSpPr/>
          <p:nvPr/>
        </p:nvSpPr>
        <p:spPr>
          <a:xfrm>
            <a:off x="868680" y="1920240"/>
            <a:ext cx="274320" cy="274320"/>
          </a:xfrm>
          <a:prstGeom prst="ellipse">
            <a:avLst/>
          </a:prstGeom>
          <a:solidFill>
            <a:srgbClr val="FFD400"/>
          </a:solidFill>
          <a:ln/>
        </p:spPr>
      </p:sp>
      <p:sp>
        <p:nvSpPr>
          <p:cNvPr id="5" name="Text 3"/>
          <p:cNvSpPr/>
          <p:nvPr/>
        </p:nvSpPr>
        <p:spPr>
          <a:xfrm>
            <a:off x="1417320" y="1828800"/>
            <a:ext cx="960120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Swap synthetic telemetry for real cabinet check-ins.</a:t>
            </a:r>
            <a:endParaRPr lang="en-US" sz="2000" dirty="0"/>
          </a:p>
        </p:txBody>
      </p:sp>
      <p:sp>
        <p:nvSpPr>
          <p:cNvPr id="6" name="Shape 4"/>
          <p:cNvSpPr/>
          <p:nvPr/>
        </p:nvSpPr>
        <p:spPr>
          <a:xfrm>
            <a:off x="868680" y="2743200"/>
            <a:ext cx="274320" cy="274320"/>
          </a:xfrm>
          <a:prstGeom prst="ellipse">
            <a:avLst/>
          </a:prstGeom>
          <a:solidFill>
            <a:srgbClr val="FFD400"/>
          </a:solidFill>
          <a:ln/>
        </p:spPr>
      </p:sp>
      <p:sp>
        <p:nvSpPr>
          <p:cNvPr id="7" name="Text 5"/>
          <p:cNvSpPr/>
          <p:nvPr/>
        </p:nvSpPr>
        <p:spPr>
          <a:xfrm>
            <a:off x="1417320" y="2651760"/>
            <a:ext cx="960120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Connect a payment provider and an SMS gateway.</a:t>
            </a:r>
            <a:endParaRPr lang="en-US" sz="2000" dirty="0"/>
          </a:p>
        </p:txBody>
      </p:sp>
      <p:sp>
        <p:nvSpPr>
          <p:cNvPr id="8" name="Shape 6"/>
          <p:cNvSpPr/>
          <p:nvPr/>
        </p:nvSpPr>
        <p:spPr>
          <a:xfrm>
            <a:off x="868680" y="3566160"/>
            <a:ext cx="274320" cy="274320"/>
          </a:xfrm>
          <a:prstGeom prst="ellipse">
            <a:avLst/>
          </a:prstGeom>
          <a:solidFill>
            <a:srgbClr val="FFD400"/>
          </a:solidFill>
          <a:ln/>
        </p:spPr>
      </p:sp>
      <p:sp>
        <p:nvSpPr>
          <p:cNvPr id="9" name="Text 7"/>
          <p:cNvSpPr/>
          <p:nvPr/>
        </p:nvSpPr>
        <p:spPr>
          <a:xfrm>
            <a:off x="1417320" y="3474720"/>
            <a:ext cx="960120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Pilot at one taxi rank and one campus.</a:t>
            </a:r>
            <a:endParaRPr lang="en-US" sz="2000" dirty="0"/>
          </a:p>
        </p:txBody>
      </p:sp>
      <p:sp>
        <p:nvSpPr>
          <p:cNvPr id="10" name="Shape 8"/>
          <p:cNvSpPr/>
          <p:nvPr/>
        </p:nvSpPr>
        <p:spPr>
          <a:xfrm>
            <a:off x="822960" y="4846320"/>
            <a:ext cx="10515600" cy="1188720"/>
          </a:xfrm>
          <a:prstGeom prst="roundRect">
            <a:avLst>
              <a:gd name="adj" fmla="val 9231"/>
            </a:avLst>
          </a:prstGeom>
          <a:solidFill>
            <a:srgbClr val="1E1E26"/>
          </a:solidFill>
          <a:ln w="12700">
            <a:solidFill>
              <a:srgbClr val="2C2C36"/>
            </a:solidFill>
            <a:prstDash val="solid"/>
          </a:ln>
        </p:spPr>
      </p:sp>
      <p:sp>
        <p:nvSpPr>
          <p:cNvPr id="11" name="Text 9"/>
          <p:cNvSpPr/>
          <p:nvPr/>
        </p:nvSpPr>
        <p:spPr>
          <a:xfrm>
            <a:off x="1188720" y="5166360"/>
            <a:ext cx="6400800" cy="548640"/>
          </a:xfrm>
          <a:prstGeom prst="rect">
            <a:avLst/>
          </a:prstGeom>
          <a:noFill/>
          <a:ln/>
        </p:spPr>
        <p:txBody>
          <a:bodyPr wrap="square" lIns="0" tIns="0" rIns="0" bIns="0" rtlCol="0" anchor="ctr"/>
          <a:lstStyle/>
          <a:p>
            <a:pPr indent="0" marL="0">
              <a:buNone/>
            </a:pPr>
            <a:r>
              <a:rPr lang="en-US" sz="2600" b="1" dirty="0">
                <a:solidFill>
                  <a:srgbClr val="FFD400"/>
                </a:solidFill>
                <a:latin typeface="Arial" pitchFamily="34" charset="0"/>
                <a:ea typeface="Arial" pitchFamily="34" charset="-122"/>
                <a:cs typeface="Arial" pitchFamily="34" charset="-120"/>
              </a:rPr>
              <a:t>Pay for the time, share the time.</a:t>
            </a:r>
            <a:endParaRPr lang="en-US" sz="2600" dirty="0"/>
          </a:p>
        </p:txBody>
      </p:sp>
      <p:sp>
        <p:nvSpPr>
          <p:cNvPr id="12" name="Text 10"/>
          <p:cNvSpPr/>
          <p:nvPr/>
        </p:nvSpPr>
        <p:spPr>
          <a:xfrm>
            <a:off x="7680960" y="5212080"/>
            <a:ext cx="3291840" cy="457200"/>
          </a:xfrm>
          <a:prstGeom prst="rect">
            <a:avLst/>
          </a:prstGeom>
          <a:noFill/>
          <a:ln/>
        </p:spPr>
        <p:txBody>
          <a:bodyPr wrap="square" lIns="0" tIns="0" rIns="0" bIns="0" rtlCol="0" anchor="ctr"/>
          <a:lstStyle/>
          <a:p>
            <a:pPr algn="r" indent="0" marL="0">
              <a:buNone/>
            </a:pPr>
            <a:r>
              <a:rPr lang="en-US" sz="2400" b="1" dirty="0">
                <a:solidFill>
                  <a:srgbClr val="FFFFFF"/>
                </a:solidFill>
                <a:latin typeface="Arial" pitchFamily="34" charset="0"/>
                <a:ea typeface="Arial" pitchFamily="34" charset="-122"/>
                <a:cs typeface="Arial" pitchFamily="34" charset="-120"/>
              </a:rPr>
              <a:t>Thank you</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Juice Tech — GirlCode Hackathon 2026</dc:title>
  <dc:subject>PptxGenJS Presentation</dc:subject>
  <dc:creator>Juice Tech</dc:creator>
  <cp:lastModifiedBy>Juice Tech</cp:lastModifiedBy>
  <cp:revision>1</cp:revision>
  <dcterms:created xsi:type="dcterms:W3CDTF">2026-08-15T23:12:29Z</dcterms:created>
  <dcterms:modified xsi:type="dcterms:W3CDTF">2026-08-15T23:12:29Z</dcterms:modified>
</cp:coreProperties>
</file>