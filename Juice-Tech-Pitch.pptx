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Forecast rentals</c:v>
                </c:pt>
              </c:strCache>
            </c:strRef>
          </c:tx>
          <c:spPr>
            <a:solidFill>
              <a:srgbClr val="FFD4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Sheet1!$A$2:$A$25</c:f>
              <c:multiLvlStrCache>
                <c:ptCount val="24"/>
                <c:lvl>
                  <c:pt idx="0">
                    <c:v>00</c:v>
                  </c:pt>
                  <c:pt idx="1">
                    <c:v>01</c:v>
                  </c:pt>
                  <c:pt idx="2">
                    <c:v>02</c:v>
                  </c:pt>
                  <c:pt idx="3">
                    <c:v>03</c:v>
                  </c:pt>
                  <c:pt idx="4">
                    <c:v>04</c:v>
                  </c:pt>
                  <c:pt idx="5">
                    <c:v>05</c:v>
                  </c:pt>
                  <c:pt idx="6">
                    <c:v>06</c:v>
                  </c:pt>
                  <c:pt idx="7">
                    <c:v>07</c:v>
                  </c:pt>
                  <c:pt idx="8">
                    <c:v>08</c:v>
                  </c:pt>
                  <c:pt idx="9">
                    <c:v>09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13.9</c:v>
                </c:pt>
                <c:pt idx="6">
                  <c:v>33.3</c:v>
                </c:pt>
                <c:pt idx="7">
                  <c:v>37.4</c:v>
                </c:pt>
                <c:pt idx="8">
                  <c:v>30.5</c:v>
                </c:pt>
                <c:pt idx="9">
                  <c:v>55</c:v>
                </c:pt>
                <c:pt idx="10">
                  <c:v>46.9</c:v>
                </c:pt>
                <c:pt idx="11">
                  <c:v>47.1</c:v>
                </c:pt>
                <c:pt idx="12">
                  <c:v>51.2</c:v>
                </c:pt>
                <c:pt idx="13">
                  <c:v>55</c:v>
                </c:pt>
                <c:pt idx="14">
                  <c:v>54.1</c:v>
                </c:pt>
                <c:pt idx="15">
                  <c:v>66.2</c:v>
                </c:pt>
                <c:pt idx="16">
                  <c:v>80.3</c:v>
                </c:pt>
                <c:pt idx="17">
                  <c:v>82.7</c:v>
                </c:pt>
                <c:pt idx="18">
                  <c:v>61.4</c:v>
                </c:pt>
                <c:pt idx="19">
                  <c:v>44</c:v>
                </c:pt>
                <c:pt idx="20">
                  <c:v>23.9</c:v>
                </c:pt>
                <c:pt idx="21">
                  <c:v>13</c:v>
                </c:pt>
                <c:pt idx="22">
                  <c:v>4.2</c:v>
                </c:pt>
                <c:pt idx="23">
                  <c:v>2.4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A6A7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2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A6A7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 sentence, nothing before it. Then say: it is August, this is GirlCode, and the problem we picked is one our team knows.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Thirty seconds. Do not linger — the next slide is the one that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Slow down here. Land 17:00 as a fact, not a plea. Say the limitation out loud — naming it is what separates us from stapling a cause onto a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real model output, not a mock. Point at the 17:00 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not an LLM for forecasting: gradient boosting on tabular telemetry trains in seconds, runs offline, and tells you which feature drove the call. The language model has one job — talking to humans.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ID one out loud. Removing it has a cost — we did it anyway.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 — the demo shows it better than the slide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Ninety seconds. Golden path only. If anything breaks, do not debug — switch to the recording and keep talking.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plainly, per rule 12: the AI models and policy engine predate this weekend. Built during the hackathon — the whole Python site and API, the kiosk rental journey, the nearest-station finder, the safety page and the 208 checks. Then the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5669280" cy="5669280"/>
          </a:xfrm>
          <a:prstGeom prst="ellipse">
            <a:avLst/>
          </a:prstGeom>
          <a:solidFill>
            <a:srgbClr val="1A1705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200" kern="0" dirty="0">
                <a:solidFill>
                  <a:srgbClr val="FFD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JUICE TECH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6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for the time, share the time.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power bank network for South Africa, where the AI decides which cabinets to fill before they run dry — and which batteries to pull before they catch fire.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6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GirlCode Hackathon  ·  Cape Town  ·  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475488" cy="475488"/>
          </a:xfrm>
          <a:prstGeom prst="ellipse">
            <a:avLst/>
          </a:prstGeom>
          <a:solidFill>
            <a:srgbClr val="FFD4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463040" y="6583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7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flat phone strands you.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32918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2C2C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6060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way home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78992" y="301752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taxi fare, no e-hailing, no ticket.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2377440"/>
            <a:ext cx="32918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2C2C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26060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way to call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90872" y="301752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help, no shared location, no emergency number.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2377440"/>
            <a:ext cx="32918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2C2C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2752" y="26060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Loadshedding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02752" y="301752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rely on charging at home.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572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3A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a power bank does not fix it. It spends most of its life flat, in a drawer. One shared bank serves several people a day instead.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475488" cy="475488"/>
          </a:xfrm>
          <a:prstGeom prst="ellipse">
            <a:avLst/>
          </a:prstGeom>
          <a:solidFill>
            <a:srgbClr val="FFD4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463040" y="6583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FFD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D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17:00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model's busiest hour across the taxi ranks and campuses.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94960" y="1371600"/>
            <a:ext cx="5943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when people are trying to get home.
</a:t>
            </a:r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B6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an empty cabinet at Langa Taxi Rank at five o'clock is not a stock problem. It is a safety problem.
</a:t>
            </a:r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B6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South Africa that risk is not the same for everybody. A phone is how you call a ride, share a location, or reach someone who will come and fetch you.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94960" y="4663440"/>
            <a:ext cx="5943600" cy="1051560"/>
          </a:xfrm>
          <a:prstGeom prst="roundRect">
            <a:avLst>
              <a:gd name="adj" fmla="val 10435"/>
            </a:avLst>
          </a:prstGeom>
          <a:solidFill>
            <a:srgbClr val="1E1E26"/>
          </a:solidFill>
          <a:ln w="12700">
            <a:solidFill>
              <a:srgbClr val="2C2C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484632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FFE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solves gender based violence. It is infrastructure built by people who know that a dead battery at the wrong moment is not a small thing.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475488" cy="475488"/>
          </a:xfrm>
          <a:prstGeom prst="ellipse">
            <a:avLst/>
          </a:prstGeom>
          <a:solidFill>
            <a:srgbClr val="FFD4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463040" y="6583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7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143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peaks exactly when the walk home starts.</a:t>
            </a:r>
            <a:endParaRPr lang="en-US" sz="3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1920240"/>
          <a:ext cx="10515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822960" y="5257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forecast across 7 taxi rank and campus sites — Langa, Mitchells Plain, Bellville, CT Station Taxi Deck, UCT, CPUT, Stellenbosch. Peak 82.7 rentals at 17:00.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475488" cy="475488"/>
          </a:xfrm>
          <a:prstGeom prst="ellipse">
            <a:avLst/>
          </a:prstGeom>
          <a:solidFill>
            <a:srgbClr val="FFD4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463040" y="61264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FFD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097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models. Three are not language models.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5029200" cy="1874520"/>
          </a:xfrm>
          <a:prstGeom prst="roundRect">
            <a:avLst>
              <a:gd name="adj" fmla="val 5854"/>
            </a:avLst>
          </a:prstGeom>
          <a:solidFill>
            <a:srgbClr val="16161C"/>
          </a:solidFill>
          <a:ln w="12700">
            <a:solidFill>
              <a:srgbClr val="2C2C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148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forecasting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40480" y="21214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D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2.064 MAE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97280" y="24963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E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2816352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6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2.633 guessing from last week — 21.6% better, 25 920 rows, trained in 7 seconds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965960"/>
            <a:ext cx="5029200" cy="1874520"/>
          </a:xfrm>
          <a:prstGeom prst="roundRect">
            <a:avLst>
              <a:gd name="adj" fmla="val 5854"/>
            </a:avLst>
          </a:prstGeom>
          <a:solidFill>
            <a:srgbClr val="16161C"/>
          </a:solidFill>
          <a:ln w="12700">
            <a:solidFill>
              <a:srgbClr val="2C2C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148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health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235440" y="21214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D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0.863 AUC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92240" y="24963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E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classifier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2816352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6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632 banks scored, 42 flagged to pull before they swell. A safety model, not maintenance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114800"/>
            <a:ext cx="5029200" cy="1874520"/>
          </a:xfrm>
          <a:prstGeom prst="roundRect">
            <a:avLst>
              <a:gd name="adj" fmla="val 5854"/>
            </a:avLst>
          </a:prstGeom>
          <a:solidFill>
            <a:srgbClr val="16161C"/>
          </a:solidFill>
          <a:ln w="12700">
            <a:solidFill>
              <a:srgbClr val="2C2C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297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Rebalancing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840480" y="42702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D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vs 171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097280" y="46451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E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allocation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4965192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6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stage 4 the van moves 8 banks and 171 stay short — that is where the next cabinet goes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4114800"/>
            <a:ext cx="5029200" cy="1874520"/>
          </a:xfrm>
          <a:prstGeom prst="roundRect">
            <a:avLst>
              <a:gd name="adj" fmla="val 5854"/>
            </a:avLst>
          </a:prstGeom>
          <a:solidFill>
            <a:srgbClr val="16161C"/>
          </a:solidFill>
          <a:ln w="12700">
            <a:solidFill>
              <a:srgbClr val="2C2C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4297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Concierge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35440" y="42702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D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languages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492240" y="46451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E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retrieval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92240" y="4965192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6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our published policies. Every message redacted before it leaves the device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475488" cy="475488"/>
          </a:xfrm>
          <a:prstGeom prst="ellipse">
            <a:avLst/>
          </a:prstGeom>
          <a:solidFill>
            <a:srgbClr val="FFD4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463040" y="6583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7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around it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143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that cost us conversion.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2066544"/>
            <a:ext cx="310896" cy="310896"/>
          </a:xfrm>
          <a:prstGeom prst="ellipse">
            <a:avLst/>
          </a:prstGeom>
          <a:solidFill>
            <a:srgbClr val="FFD400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0116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ID document, ever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94960" y="1993392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cellphone number verified by OTP is all we ask. Renting leaves nothing behind that could be used to find you.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2999232"/>
            <a:ext cx="310896" cy="310896"/>
          </a:xfrm>
          <a:prstGeom prst="ellipse">
            <a:avLst/>
          </a:prstGeom>
          <a:solidFill>
            <a:srgbClr val="FFD400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29443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Cabinets only where there is light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94960" y="29260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Lit, staffed, overlooked locations, reviewed with the host. A cabinet in a dark corner is a mugging waiting to happen.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3931920"/>
            <a:ext cx="310896" cy="310896"/>
          </a:xfrm>
          <a:prstGeom prst="ellipse">
            <a:avLst/>
          </a:prstGeom>
          <a:solidFill>
            <a:srgbClr val="FFD400"/>
          </a:solidFill>
          <a:ln/>
        </p:spPr>
      </p:sp>
      <p:sp>
        <p:nvSpPr>
          <p:cNvPr id="13" name="Text 11"/>
          <p:cNvSpPr/>
          <p:nvPr/>
        </p:nvSpPr>
        <p:spPr>
          <a:xfrm>
            <a:off x="1325880" y="387705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 held back for the trip home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94960" y="3858768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Home mode will not let your charge fall below what it takes to call a ride.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4864608"/>
            <a:ext cx="310896" cy="310896"/>
          </a:xfrm>
          <a:prstGeom prst="ellipse">
            <a:avLst/>
          </a:prstGeom>
          <a:solidFill>
            <a:srgbClr val="FFD400"/>
          </a:solidFill>
          <a:ln/>
        </p:spPr>
      </p:sp>
      <p:sp>
        <p:nvSpPr>
          <p:cNvPr id="16" name="Text 14"/>
          <p:cNvSpPr/>
          <p:nvPr/>
        </p:nvSpPr>
        <p:spPr>
          <a:xfrm>
            <a:off x="1325880" y="480974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track batteries, not people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94960" y="4791456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 is our property, so we know where it is. We do not follow the person carrying it.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POPIA-native, by construction rather than by policy.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475488" cy="475488"/>
          </a:xfrm>
          <a:prstGeom prst="ellipse">
            <a:avLst/>
          </a:prstGeom>
          <a:solidFill>
            <a:srgbClr val="FFD4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463040" y="61264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FFD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097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Scan, pay, go. Return it anywhere.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2423160" cy="1691640"/>
          </a:xfrm>
          <a:prstGeom prst="roundRect">
            <a:avLst>
              <a:gd name="adj" fmla="val 6486"/>
            </a:avLst>
          </a:prstGeom>
          <a:solidFill>
            <a:srgbClr val="16161C"/>
          </a:solidFill>
          <a:ln w="12700">
            <a:solidFill>
              <a:srgbClr val="2C2C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194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78992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78992" y="304495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6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QR on the cabinet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520440" y="2011680"/>
            <a:ext cx="2423160" cy="1691640"/>
          </a:xfrm>
          <a:prstGeom prst="roundRect">
            <a:avLst>
              <a:gd name="adj" fmla="val 6486"/>
            </a:avLst>
          </a:prstGeom>
          <a:solidFill>
            <a:srgbClr val="16161C"/>
          </a:solidFill>
          <a:ln w="12700">
            <a:solidFill>
              <a:srgbClr val="2C2C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76472" y="2194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776472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776472" y="304495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6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number by OTP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2011680"/>
            <a:ext cx="2423160" cy="1691640"/>
          </a:xfrm>
          <a:prstGeom prst="roundRect">
            <a:avLst>
              <a:gd name="adj" fmla="val 6486"/>
            </a:avLst>
          </a:prstGeom>
          <a:solidFill>
            <a:srgbClr val="16161C"/>
          </a:solidFill>
          <a:ln w="12700">
            <a:solidFill>
              <a:srgbClr val="2C2C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2194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73952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73952" y="304495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6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collect your bank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915400" y="2011680"/>
            <a:ext cx="2423160" cy="1691640"/>
          </a:xfrm>
          <a:prstGeom prst="roundRect">
            <a:avLst>
              <a:gd name="adj" fmla="val 6486"/>
            </a:avLst>
          </a:prstGeom>
          <a:solidFill>
            <a:srgbClr val="16161C"/>
          </a:solidFill>
          <a:ln w="12700">
            <a:solidFill>
              <a:srgbClr val="2C2C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71432" y="2194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171432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171432" y="304495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6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any free slot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" y="4206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D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R150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822960" y="4754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6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hour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20440" y="4206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D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R250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3520440" y="4754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6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hours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17920" y="4206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D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R300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6217920" y="4754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6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refundable deposit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915400" y="4206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D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8915400" y="4754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6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 modelled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2960" y="5577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6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Python — FastAPI, SQLModel, hand-written CSS. No framework, no CDN, no build step: the site still renders when the venue wifi dies.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475488" cy="475488"/>
          </a:xfrm>
          <a:prstGeom prst="ellipse">
            <a:avLst/>
          </a:prstGeom>
          <a:solidFill>
            <a:srgbClr val="FFD4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463040" y="6583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7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143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are about to see.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512064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2C2C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customer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269748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cabinet QR — 11 banks, live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two hours, see R550 before committing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 asked for, ever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— simulated, and there is nowhere to type a card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7 unlocks, the bank slides out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Receipt, then return it to a different station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2011680"/>
            <a:ext cx="512064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2C2C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network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269748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Eskom stage 0 to 4 — the forecast moves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Tonight's van route, and what it cannot fix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battery flagged to pull before it swells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 ID and card number into the assistant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what actually leaves the machine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 automated checks pass across four suites.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291840"/>
            <a:ext cx="5852160" cy="5852160"/>
          </a:xfrm>
          <a:prstGeom prst="ellipse">
            <a:avLst/>
          </a:prstGeom>
          <a:solidFill>
            <a:srgbClr val="1A1705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would do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310896" cy="310896"/>
          </a:xfrm>
          <a:prstGeom prst="ellipse">
            <a:avLst/>
          </a:prstGeom>
          <a:solidFill>
            <a:srgbClr val="FFD400"/>
          </a:solidFill>
          <a:ln/>
        </p:spPr>
      </p:sp>
      <p:sp>
        <p:nvSpPr>
          <p:cNvPr id="5" name="Text 3"/>
          <p:cNvSpPr/>
          <p:nvPr/>
        </p:nvSpPr>
        <p:spPr>
          <a:xfrm>
            <a:off x="132588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the 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480560" y="1719072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6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fleet.telemetry() is the single swap point for real cabinet check-ins. Nothing downstream changes.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834640"/>
            <a:ext cx="310896" cy="310896"/>
          </a:xfrm>
          <a:prstGeom prst="ellipse">
            <a:avLst/>
          </a:prstGeom>
          <a:solidFill>
            <a:srgbClr val="FFD400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2788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the rails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80560" y="2770632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6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payment provider and SMS gateway. The flow is already built around them.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310896" cy="310896"/>
          </a:xfrm>
          <a:prstGeom prst="ellipse">
            <a:avLst/>
          </a:prstGeom>
          <a:solidFill>
            <a:srgbClr val="FFD400"/>
          </a:solidFill>
          <a:ln/>
        </p:spPr>
      </p:sp>
      <p:sp>
        <p:nvSpPr>
          <p:cNvPr id="11" name="Text 9"/>
          <p:cNvSpPr/>
          <p:nvPr/>
        </p:nvSpPr>
        <p:spPr>
          <a:xfrm>
            <a:off x="1325880" y="3840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and measure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80560" y="3822192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6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taxi rank, one campus. Does the forecast hold against real demand?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5029200"/>
            <a:ext cx="10515600" cy="1143000"/>
          </a:xfrm>
          <a:prstGeom prst="roundRect">
            <a:avLst>
              <a:gd name="adj" fmla="val 9600"/>
            </a:avLst>
          </a:prstGeom>
          <a:solidFill>
            <a:srgbClr val="1E1E26"/>
          </a:solidFill>
          <a:ln w="12700">
            <a:solidFill>
              <a:srgbClr val="2C2C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523036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for the time, share the time.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43000" y="564184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6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juicetech.co.za  ·  Sea Point, Cape Town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863840" y="5349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Juice Tech — GirlCode Hackathon 2026</dc:title>
  <dc:subject>PptxGenJS Presentation</dc:subject>
  <dc:creator>Juice Tech</dc:creator>
  <cp:lastModifiedBy>Juice Tech</cp:lastModifiedBy>
  <cp:revision>1</cp:revision>
  <dcterms:created xsi:type="dcterms:W3CDTF">2026-08-15T23:05:24Z</dcterms:created>
  <dcterms:modified xsi:type="dcterms:W3CDTF">2026-08-15T23:05:24Z</dcterms:modified>
</cp:coreProperties>
</file>